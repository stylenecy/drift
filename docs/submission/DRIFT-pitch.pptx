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DRIFT in one line: the trading bot's risk rules live in a public contract on BNB Chain, so anyone can check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Bots ask for trust. DRIFT replaces the promise with a public rule and a public record.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Everything on this slide is a hypothesis: no user interviews or market sizing have been done yet. The point is the shape of the value: proof of discipline, not proof of profit.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steps: signal off-chain, ask the gate, trade on the exchange, record on-chain.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Public, no login, no wallet. Left: the live state read from BNB Chain in the browser. Right: ask the contract a what-if; it answers through eth_call, nothing is signed.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Smoke test on 30 Sep 2026. At step 3 nobody pressed a button: the rule fired inside the contract when the reported drawdown crossed 20%. Honest limit: the drawdown was reported by the agent.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Costs come from our own receipts on BSC Testnet at the observed 0.1 gwei; they are not a mainnet quote. The panel reads the chain from the browser because the public RPCs allow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Numbers from real runs on 3 Oct 2026. CI is set up and runs after the next push; not claimed green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DRIFT's core (the quant engine, the cockpit and `MacroGuard.sol`) comes from the upstream DRIFT project, built for a Mantle hackathon track ("AI Trading &amp; Strategy", June 2026) and migrated to BNB Chain in `bcc-ukdw/seed-bnb` (commit `52671ce`, 29 Sep 2026). Dex Bennett's contribution in this fork: the MacroGuard transparency panel (`/dashboard/macroguard` and the public `/macroguard`), the read-only `/guard/state` API, contract reads straight from the browser over a public RPC (no engine needed), an "Ask the contract" what-if that simulates `recordDecision` with `eth_call` (nothing signed), a labelled Binance public-data fallback for the engine, honest copy corrections, a self-owned MacroGuard deployment with an on-chain smoke test (30 Sep 2026), source verification on Sourcify, contract fuzz and invariant tests, an offline engine test suite, CI, a threat model, the judge-facing landing page and visual system, the PRD and the pitch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Roadmap items are not built yet. The links are live today and clickable in the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estnet.bscscan.com/address/0x8b09ebB85Be8Ed55Bb5132d29eABc567c42aa83D" TargetMode="External"/><Relationship Id="rId4" Type="http://schemas.openxmlformats.org/officeDocument/2006/relationships/hyperlink" Target="https://repo.sourcify.dev/97/0x8b09ebB85Be8Ed55Bb5132d29eABc567c42aa83D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64008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00"/>
              </a:spcAft>
            </a:pPr>
            <a:r>
              <a:rPr sz="6000" b="1">
                <a:solidFill>
                  <a:srgbClr val="FFFFFF"/>
                </a:solidFill>
                <a:latin typeface="Calibri"/>
              </a:rPr>
              <a:t>DRIFT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82880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89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A trading bot whose risk rules you can verify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2608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69"/>
              </a:spcAft>
            </a:pPr>
            <a:r>
              <a:rPr sz="2200" b="0">
                <a:solidFill>
                  <a:srgbClr val="AAAAAB"/>
                </a:solidFill>
                <a:latin typeface="Calibri"/>
              </a:rPr>
              <a:t>Off-chain quant research · on-chain risk gate on BNB Chain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2062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60"/>
              </a:spcAft>
            </a:pPr>
            <a:r>
              <a:rPr sz="1600" b="0">
                <a:solidFill>
                  <a:srgbClr val="AAAAAB"/>
                </a:solidFill>
                <a:latin typeface="Calibri"/>
              </a:rPr>
              <a:t>Live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720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800" b="0">
                <a:solidFill>
                  <a:srgbClr val="FFFFFF"/>
                </a:solidFill>
                <a:latin typeface="Consolas"/>
              </a:rPr>
              <a:t>drift-macroguard.vercel.app/macroguard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1206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60"/>
              </a:spcAft>
            </a:pPr>
            <a:r>
              <a:rPr sz="1600" b="0">
                <a:solidFill>
                  <a:srgbClr val="AAAAAB"/>
                </a:solidFill>
                <a:latin typeface="Calibri"/>
              </a:rPr>
              <a:t>Dex's contract on BSC Testnet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4864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800" b="0">
                <a:solidFill>
                  <a:srgbClr val="F0B90B"/>
                </a:solidFill>
                <a:latin typeface="Consolas"/>
              </a:rPr>
              <a:t>0x8b09ebB85Be8Ed55Bb5132d29eABc567c42aa83D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60"/>
              </a:spcAft>
            </a:pPr>
            <a:r>
              <a:rPr sz="1600" b="0">
                <a:solidFill>
                  <a:srgbClr val="AAAAAB"/>
                </a:solidFill>
                <a:latin typeface="Calibri"/>
              </a:rPr>
              <a:t>Indonesia Web3 Hackathon 2026 · Dex Bennett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3600" b="1">
                <a:solidFill>
                  <a:srgbClr val="FFFFFF"/>
                </a:solidFill>
                <a:latin typeface="Calibr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39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Trading bots ask users to trust risk rules nobody can see.</a:t>
            </a:r>
          </a:p>
          <a:p>
            <a:pPr>
              <a:spcAft>
                <a:spcPts val="839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Settings change silently; off-chain decision logs can be rewritten.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9184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79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The promise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023360"/>
            <a:ext cx="10881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39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Anyone can check what DRIFT's bot is allowed to do right now,</a:t>
            </a:r>
          </a:p>
          <a:p>
            <a:pPr>
              <a:spcAft>
                <a:spcPts val="839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and every recorded decision is public on BscScan.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3600" b="1">
                <a:solidFill>
                  <a:srgbClr val="FFFFFF"/>
                </a:solidFill>
                <a:latin typeface="Calibri"/>
              </a:rPr>
              <a:t>Who needs it, and how it could pay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25"/>
              </a:spcAft>
            </a:pPr>
            <a:r>
              <a:rPr sz="1500" b="1">
                <a:solidFill>
                  <a:srgbClr val="FBBF24"/>
                </a:solidFill>
                <a:latin typeface="Calibri"/>
              </a:rPr>
              <a:t>HYPOTHESIS: not yet validated with users; no market figures claimed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39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Who needs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468880"/>
            <a:ext cx="51206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Retail traders who follow or rent bots: proof that the risk stop is real</a:t>
            </a:r>
          </a:p>
          <a:p>
            <a:pPr>
              <a:spcAft>
                <a:spcPts val="63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Bot builders and signal sellers: a record of discipline a screenshot cannot fake</a:t>
            </a:r>
          </a:p>
          <a:p>
            <a:pPr>
              <a:spcAft>
                <a:spcPts val="63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Communities and auditors: check a bot's rules without trusting its operator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828800"/>
            <a:ext cx="521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39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How it could pay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46888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A risk gate per bot: its own MacroGuard plus a public panel, as a monthly service</a:t>
            </a:r>
          </a:p>
          <a:p>
            <a:pPr>
              <a:spcAft>
                <a:spcPts val="63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The panel link as a trust badge for strategy sellers</a:t>
            </a:r>
          </a:p>
          <a:p>
            <a:pPr>
              <a:spcAft>
                <a:spcPts val="63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No custody and no performance fee; on-chain cost per decision stays tiny (slide 7)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3600" b="1">
                <a:solidFill>
                  <a:srgbClr val="FFFFFF"/>
                </a:solidFill>
                <a:latin typeface="Calibri"/>
              </a:rPr>
              <a:t>How DRIFT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39"/>
              </a:spcAft>
            </a:pPr>
            <a:r>
              <a:rPr sz="2400" b="1">
                <a:solidFill>
                  <a:srgbClr val="9AA8F0"/>
                </a:solidFill>
                <a:latin typeface="Calibri"/>
              </a:rPr>
              <a:t>1  Signal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0" y="1508760"/>
            <a:ext cx="7863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2000" b="0">
                <a:solidFill>
                  <a:srgbClr val="FFFFFF"/>
                </a:solidFill>
                <a:latin typeface="Calibri"/>
              </a:rPr>
              <a:t>Python engine: four strategies, point-in-time, no look-ahead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51460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39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2  Ask the gate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0" y="2560320"/>
            <a:ext cx="7863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2000" b="0">
                <a:solidFill>
                  <a:srgbClr val="FFFFFF"/>
                </a:solidFill>
                <a:latin typeface="Consolas"/>
              </a:rPr>
              <a:t>MacroGuard.allowed(signal)</a:t>
            </a:r>
            <a:r>
              <a:rPr sz="2000" b="0">
                <a:solidFill>
                  <a:srgbClr val="FFFFFF"/>
                </a:solidFill>
                <a:latin typeface="Calibri"/>
              </a:rPr>
              <a:t> on BSC Testnet: regime + 20% halt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56616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39"/>
              </a:spcAft>
            </a:pPr>
            <a:r>
              <a:rPr sz="2400" b="1">
                <a:solidFill>
                  <a:srgbClr val="9AA8F0"/>
                </a:solidFill>
                <a:latin typeface="Calibri"/>
              </a:rPr>
              <a:t>3  Trade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3611879"/>
            <a:ext cx="7863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2000" b="0">
                <a:solidFill>
                  <a:srgbClr val="FFFFFF"/>
                </a:solidFill>
                <a:latin typeface="Calibri"/>
              </a:rPr>
              <a:t>Runner places the order on Bybit testnet (vetoed signals go Flat)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61772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39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4  Record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4663440"/>
            <a:ext cx="7863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2000" b="0">
                <a:solidFill>
                  <a:srgbClr val="FFFFFF"/>
                </a:solidFill>
                <a:latin typeface="Consolas"/>
              </a:rPr>
              <a:t>recordDecision(...)</a:t>
            </a:r>
            <a:r>
              <a:rPr sz="2000" b="0">
                <a:solidFill>
                  <a:srgbClr val="FFFFFF"/>
                </a:solidFill>
                <a:latin typeface="Calibri"/>
              </a:rPr>
              <a:t> leaves a public receipt; a breach halts 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5778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89"/>
              </a:spcAft>
            </a:pPr>
            <a:r>
              <a:rPr sz="1400" b="0">
                <a:solidFill>
                  <a:srgbClr val="AAAAAB"/>
                </a:solidFill>
                <a:latin typeface="Calibri"/>
              </a:rPr>
              <a:t>Periwinkle: off-chain engine · white: on-chain contract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9436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800" b="0">
                <a:solidFill>
                  <a:srgbClr val="AAAAAB"/>
                </a:solidFill>
                <a:latin typeface="Calibri"/>
              </a:rPr>
              <a:t>The contract never executes orders; it is the public rule and the public record.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3600" b="1">
                <a:solidFill>
                  <a:srgbClr val="FFFFFF"/>
                </a:solidFill>
                <a:latin typeface="Calibri"/>
              </a:rPr>
              <a:t>The panel, and asking the contract</a:t>
            </a:r>
          </a:p>
        </p:txBody>
      </p:sp>
      <p:pic>
        <p:nvPicPr>
          <p:cNvPr id="3" name="Picture 2" descr="public-guard-desktop.png"/>
          <p:cNvPicPr>
            <a:picLocks noChangeAspect="1"/>
          </p:cNvPicPr>
          <p:nvPr/>
        </p:nvPicPr>
        <p:blipFill>
          <a:blip r:embed="rId3"/>
          <a:srcRect l="9700" t="9400" r="9700"/>
          <a:stretch>
            <a:fillRect/>
          </a:stretch>
        </p:blipFill>
        <p:spPr>
          <a:xfrm>
            <a:off x="457200" y="1280160"/>
            <a:ext cx="5577840" cy="3918674"/>
          </a:xfrm>
          <a:prstGeom prst="rect">
            <a:avLst/>
          </a:prstGeom>
        </p:spPr>
      </p:pic>
      <p:pic>
        <p:nvPicPr>
          <p:cNvPr id="4" name="Picture 3" descr="ask-contract-deskt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1280160"/>
            <a:ext cx="5486400" cy="270442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349240"/>
            <a:ext cx="5577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60"/>
              </a:spcAft>
            </a:pPr>
            <a:r>
              <a:rPr sz="1600" b="0">
                <a:solidFill>
                  <a:srgbClr val="AAAAAB"/>
                </a:solidFill>
                <a:latin typeface="Calibri"/>
              </a:rPr>
              <a:t>Live regime, halt, 20% line and decisions,</a:t>
            </a:r>
          </a:p>
          <a:p>
            <a:pPr>
              <a:spcAft>
                <a:spcPts val="560"/>
              </a:spcAft>
            </a:pPr>
            <a:r>
              <a:rPr sz="1600" b="0">
                <a:solidFill>
                  <a:srgbClr val="AAAAAB"/>
                </a:solidFill>
                <a:latin typeface="Calibri"/>
              </a:rPr>
              <a:t>read from BSC Testnet at a named block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5349240"/>
            <a:ext cx="5486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60"/>
              </a:spcAft>
            </a:pPr>
            <a:r>
              <a:rPr sz="1600" b="0">
                <a:solidFill>
                  <a:srgbClr val="AAAAAB"/>
                </a:solidFill>
                <a:latin typeface="Calibri"/>
              </a:rPr>
              <a:t>Long at −25%: Blocked, answered by the live contract</a:t>
            </a:r>
          </a:p>
          <a:p>
            <a:pPr>
              <a:spcAft>
                <a:spcPts val="560"/>
              </a:spcAft>
            </a:pPr>
            <a:r>
              <a:rPr sz="1600" b="0">
                <a:solidFill>
                  <a:srgbClr val="AAAAAB"/>
                </a:solidFill>
                <a:latin typeface="Calibri"/>
              </a:rPr>
              <a:t>via </a:t>
            </a:r>
            <a:r>
              <a:rPr sz="1600" b="0">
                <a:solidFill>
                  <a:srgbClr val="AAAAAB"/>
                </a:solidFill>
                <a:latin typeface="Consolas"/>
              </a:rPr>
              <a:t>eth_call</a:t>
            </a:r>
            <a:r>
              <a:rPr sz="1600" b="0">
                <a:solidFill>
                  <a:srgbClr val="AAAAAB"/>
                </a:solidFill>
                <a:latin typeface="Calibri"/>
              </a:rPr>
              <a:t> from the agent address (simulation)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3600" b="1">
                <a:solidFill>
                  <a:srgbClr val="FFFFFF"/>
                </a:solidFill>
                <a:latin typeface="Calibri"/>
              </a:rPr>
              <a:t>−25% recorded: the contract halted itself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874519"/>
            <a:ext cx="7010400" cy="201168"/>
          </a:xfrm>
          <a:prstGeom prst="rect">
            <a:avLst/>
          </a:prstGeom>
          <a:solidFill>
            <a:srgbClr val="153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833360" y="1874519"/>
            <a:ext cx="3505200" cy="201168"/>
          </a:xfrm>
          <a:prstGeom prst="rect">
            <a:avLst/>
          </a:prstGeom>
          <a:solidFill>
            <a:srgbClr val="472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815072" y="1645919"/>
            <a:ext cx="45720" cy="658368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18032" y="1819655"/>
            <a:ext cx="310896" cy="310896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430512" y="1819655"/>
            <a:ext cx="310896" cy="310896"/>
          </a:xfrm>
          <a:prstGeom prst="ellipse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10399" y="1188719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89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halt line 20%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945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89"/>
              </a:spcAft>
            </a:pPr>
            <a:r>
              <a:rPr sz="1400" b="0">
                <a:solidFill>
                  <a:srgbClr val="34D399"/>
                </a:solidFill>
                <a:latin typeface="Calibri"/>
              </a:rPr>
              <a:t>−1%: kept running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2920" y="21945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89"/>
              </a:spcAft>
            </a:pPr>
            <a:r>
              <a:rPr sz="1400" b="0">
                <a:solidFill>
                  <a:srgbClr val="FB7185"/>
                </a:solidFill>
                <a:latin typeface="Calibri"/>
              </a:rPr>
              <a:t>−25%: halted itself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88036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60"/>
              </a:spcAft>
            </a:pPr>
            <a:r>
              <a:rPr sz="1600" b="0">
                <a:solidFill>
                  <a:srgbClr val="F0B90B"/>
                </a:solidFill>
                <a:latin typeface="Consolas"/>
              </a:rPr>
              <a:t>#134,042,196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2880360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60"/>
              </a:spcAft>
            </a:pPr>
            <a:r>
              <a:rPr sz="1600" b="0">
                <a:solidFill>
                  <a:srgbClr val="FFFFFF"/>
                </a:solidFill>
                <a:latin typeface="Consolas"/>
              </a:rPr>
              <a:t>setRegime(RiskOff)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88036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94"/>
              </a:spcAft>
            </a:pPr>
            <a:r>
              <a:rPr sz="1700" b="0">
                <a:solidFill>
                  <a:srgbClr val="AAAAAB"/>
                </a:solidFill>
                <a:latin typeface="Calibri"/>
              </a:rPr>
              <a:t>Long blocked; Short and Flat open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502152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60"/>
              </a:spcAft>
            </a:pPr>
            <a:r>
              <a:rPr sz="1600" b="0">
                <a:solidFill>
                  <a:srgbClr val="F0B90B"/>
                </a:solidFill>
                <a:latin typeface="Consolas"/>
              </a:rPr>
              <a:t>#134,042,256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3502152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60"/>
              </a:spcAft>
            </a:pPr>
            <a:r>
              <a:rPr sz="1600" b="0">
                <a:solidFill>
                  <a:srgbClr val="FFFFFF"/>
                </a:solidFill>
                <a:latin typeface="Consolas"/>
              </a:rPr>
              <a:t>recordDecision(BNB, Short, −1%)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0" y="3502152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94"/>
              </a:spcAft>
            </a:pPr>
            <a:r>
              <a:rPr sz="1700" b="0">
                <a:solidFill>
                  <a:srgbClr val="34D399"/>
                </a:solidFill>
                <a:latin typeface="Calibri"/>
              </a:rPr>
              <a:t>Decision #1, inside the line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078224"/>
            <a:ext cx="11064240" cy="585216"/>
          </a:xfrm>
          <a:prstGeom prst="rect">
            <a:avLst/>
          </a:prstGeom>
          <a:solidFill>
            <a:srgbClr val="1A1B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123944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60"/>
              </a:spcAft>
            </a:pPr>
            <a:r>
              <a:rPr sz="1600" b="0">
                <a:solidFill>
                  <a:srgbClr val="F0B90B"/>
                </a:solidFill>
                <a:latin typeface="Consolas"/>
              </a:rPr>
              <a:t>#134,042,283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4123944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60"/>
              </a:spcAft>
            </a:pPr>
            <a:r>
              <a:rPr sz="1600" b="1">
                <a:solidFill>
                  <a:srgbClr val="FFFFFF"/>
                </a:solidFill>
                <a:latin typeface="Consolas"/>
              </a:rPr>
              <a:t>recordDecision(BNB, Short, −25%)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4123944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94"/>
              </a:spcAft>
            </a:pPr>
            <a:r>
              <a:rPr sz="1700" b="0">
                <a:solidFill>
                  <a:srgbClr val="FB7185"/>
                </a:solidFill>
                <a:latin typeface="Calibri"/>
              </a:rPr>
              <a:t>Halted event: only Flat allowed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745736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60"/>
              </a:spcAft>
            </a:pPr>
            <a:r>
              <a:rPr sz="1600" b="0">
                <a:solidFill>
                  <a:srgbClr val="F0B90B"/>
                </a:solidFill>
                <a:latin typeface="Consolas"/>
              </a:rPr>
              <a:t>#134,042,318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0" y="4745736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60"/>
              </a:spcAft>
            </a:pPr>
            <a:r>
              <a:rPr sz="1600" b="0">
                <a:solidFill>
                  <a:srgbClr val="FFFFFF"/>
                </a:solidFill>
                <a:latin typeface="Consolas"/>
              </a:rPr>
              <a:t>resume()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23760" y="4745736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94"/>
              </a:spcAft>
            </a:pPr>
            <a:r>
              <a:rPr sz="1700" b="0">
                <a:solidFill>
                  <a:srgbClr val="AAAAAB"/>
                </a:solidFill>
                <a:latin typeface="Calibri"/>
              </a:rPr>
              <a:t>Agent-only, on the record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36752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60"/>
              </a:spcAft>
            </a:pPr>
            <a:r>
              <a:rPr sz="1600" b="0">
                <a:solidFill>
                  <a:srgbClr val="F0B90B"/>
                </a:solidFill>
                <a:latin typeface="Consolas"/>
              </a:rPr>
              <a:t>#134,042,328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0" y="5367528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60"/>
              </a:spcAft>
            </a:pPr>
            <a:r>
              <a:rPr sz="1600" b="0">
                <a:solidFill>
                  <a:srgbClr val="FFFFFF"/>
                </a:solidFill>
                <a:latin typeface="Consolas"/>
              </a:rPr>
              <a:t>setRegime(Neutral)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5367528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94"/>
              </a:spcAft>
            </a:pPr>
            <a:r>
              <a:rPr sz="1700" b="0">
                <a:solidFill>
                  <a:srgbClr val="AAAAAB"/>
                </a:solidFill>
                <a:latin typeface="Calibri"/>
              </a:rPr>
              <a:t>Long allowed again; 2 decisions on-chain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89"/>
              </a:spcAft>
            </a:pPr>
            <a:r>
              <a:rPr sz="1400" b="0">
                <a:solidFill>
                  <a:srgbClr val="AAAAAB"/>
                </a:solidFill>
                <a:latin typeface="Calibri"/>
              </a:rPr>
              <a:t>Every row is a transaction with receipt status 1 on BscScan · block </a:t>
            </a:r>
            <a:r>
              <a:rPr sz="1400" b="0">
                <a:solidFill>
                  <a:srgbClr val="AAAAAB"/>
                </a:solidFill>
                <a:latin typeface="Consolas"/>
              </a:rPr>
              <a:t>134,042,283</a:t>
            </a:r>
            <a:r>
              <a:rPr sz="1400" b="0">
                <a:solidFill>
                  <a:srgbClr val="AAAAAB"/>
                </a:solidFill>
                <a:latin typeface="Calibri"/>
              </a:rPr>
              <a:t> is the halt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3600" b="1">
                <a:solidFill>
                  <a:srgbClr val="FFFFFF"/>
                </a:solidFill>
                <a:latin typeface="Calibri"/>
              </a:rPr>
              <a:t>Why BNB Chain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5394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≈ 0.0000034 tBNB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286000"/>
            <a:ext cx="5394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800" b="0">
                <a:solidFill>
                  <a:srgbClr val="AAAAAB"/>
                </a:solidFill>
                <a:latin typeface="Calibri"/>
              </a:rPr>
              <a:t>per recorded decision: </a:t>
            </a:r>
            <a:r>
              <a:rPr sz="1800" b="0">
                <a:solidFill>
                  <a:srgbClr val="AAAAAB"/>
                </a:solidFill>
                <a:latin typeface="Consolas"/>
              </a:rPr>
              <a:t>33,189–34,323</a:t>
            </a:r>
            <a:r>
              <a:rPr sz="1800" b="0">
                <a:solidFill>
                  <a:srgbClr val="AAAAAB"/>
                </a:solidFill>
                <a:latin typeface="Calibri"/>
              </a:rPr>
              <a:t> gas</a:t>
            </a:r>
          </a:p>
          <a:p>
            <a:pPr>
              <a:spcAft>
                <a:spcPts val="630"/>
              </a:spcAft>
            </a:pPr>
            <a:r>
              <a:rPr sz="1800" b="0">
                <a:solidFill>
                  <a:srgbClr val="AAAAAB"/>
                </a:solidFill>
                <a:latin typeface="Calibri"/>
              </a:rPr>
              <a:t>at </a:t>
            </a:r>
            <a:r>
              <a:rPr sz="1800" b="0">
                <a:solidFill>
                  <a:srgbClr val="AAAAAB"/>
                </a:solidFill>
                <a:latin typeface="Consolas"/>
              </a:rPr>
              <a:t>0.1</a:t>
            </a:r>
            <a:r>
              <a:rPr sz="1800" b="0">
                <a:solidFill>
                  <a:srgbClr val="AAAAAB"/>
                </a:solidFill>
                <a:latin typeface="Calibri"/>
              </a:rPr>
              <a:t> gwei (our receipts, BSC Testnet)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5394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5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≈ 0.00008 tBNB a 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389120"/>
            <a:ext cx="5394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800" b="0">
                <a:solidFill>
                  <a:srgbClr val="AAAAAB"/>
                </a:solidFill>
                <a:latin typeface="Calibri"/>
              </a:rPr>
              <a:t>for an hourly bot (24 decisions);</a:t>
            </a:r>
          </a:p>
          <a:p>
            <a:pPr>
              <a:spcAft>
                <a:spcPts val="630"/>
              </a:spcAft>
            </a:pPr>
            <a:r>
              <a:rPr sz="1800" b="0">
                <a:solidFill>
                  <a:srgbClr val="AAAAAB"/>
                </a:solidFill>
                <a:latin typeface="Calibri"/>
              </a:rPr>
              <a:t>deploy: </a:t>
            </a:r>
            <a:r>
              <a:rPr sz="1800" b="0">
                <a:solidFill>
                  <a:srgbClr val="AAAAAB"/>
                </a:solidFill>
                <a:latin typeface="Consolas"/>
              </a:rPr>
              <a:t>449,207</a:t>
            </a:r>
            <a:r>
              <a:rPr sz="1800" b="0">
                <a:solidFill>
                  <a:srgbClr val="AAAAAB"/>
                </a:solidFill>
                <a:latin typeface="Calibri"/>
              </a:rPr>
              <a:t> gas ≈ 0.000045 tBNB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46304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39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What else it gives 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194560"/>
            <a:ext cx="51206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EVM: Foundry tests and Sourcify verification on chain </a:t>
            </a:r>
            <a:r>
              <a:rPr sz="1800" b="0">
                <a:solidFill>
                  <a:srgbClr val="FFFFFF"/>
                </a:solidFill>
                <a:latin typeface="Consolas"/>
              </a:rPr>
              <a:t>97</a:t>
            </a:r>
          </a:p>
          <a:p>
            <a:pPr>
              <a:spcAft>
                <a:spcPts val="63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Public RPCs a browser can call: the panel needs no backend</a:t>
            </a:r>
          </a:p>
          <a:p>
            <a:pPr>
              <a:spcAft>
                <a:spcPts val="63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Five smoke-test transactions within 132 blocks</a:t>
            </a:r>
          </a:p>
          <a:p>
            <a:pPr>
              <a:spcAft>
                <a:spcPts val="63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Mainnet (chain </a:t>
            </a:r>
            <a:r>
              <a:rPr sz="1800" b="0">
                <a:solidFill>
                  <a:srgbClr val="FFFFFF"/>
                </a:solidFill>
                <a:latin typeface="Consolas"/>
              </a:rPr>
              <a:t>56</a:t>
            </a:r>
            <a:r>
              <a:rPr sz="1800" b="0">
                <a:solidFill>
                  <a:srgbClr val="FFFFFF"/>
                </a:solidFill>
                <a:latin typeface="Calibri"/>
              </a:rPr>
              <a:t>) is a config switch; not deployed there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9436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89"/>
              </a:spcAft>
            </a:pPr>
            <a:r>
              <a:rPr sz="1400" b="0">
                <a:solidFill>
                  <a:srgbClr val="AAAAAB"/>
                </a:solidFill>
                <a:latin typeface="Calibri"/>
              </a:rPr>
              <a:t>Testnet gas price, not a mainnet quote. Mainnet is on the roadmap, after an audit.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3600" b="1">
                <a:solidFill>
                  <a:srgbClr val="FFFFFF"/>
                </a:solidFill>
                <a:latin typeface="Calibri"/>
              </a:rPr>
              <a:t>Evidence and current limits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89"/>
              </a:spcAft>
            </a:pPr>
            <a:r>
              <a:rPr sz="3400" b="1">
                <a:solidFill>
                  <a:srgbClr val="34D399"/>
                </a:solidFill>
                <a:latin typeface="Calibri"/>
              </a:rPr>
              <a:t>30 / 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286000"/>
            <a:ext cx="2743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89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contract tests: unit, fuzz, invariant</a:t>
            </a:r>
          </a:p>
          <a:p>
            <a:pPr>
              <a:spcAft>
                <a:spcPts val="489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100% coverage of MacroGuard.sol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146304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89"/>
              </a:spcAft>
            </a:pPr>
            <a:r>
              <a:rPr sz="3400" b="1">
                <a:solidFill>
                  <a:srgbClr val="34D399"/>
                </a:solidFill>
                <a:latin typeface="Calibri"/>
              </a:rPr>
              <a:t>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2286000"/>
            <a:ext cx="2743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89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offline engine tests;</a:t>
            </a:r>
          </a:p>
          <a:p>
            <a:pPr>
              <a:spcAft>
                <a:spcPts val="489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no look-ahead tested as a property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46304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89"/>
              </a:spcAft>
            </a:pPr>
            <a:r>
              <a:rPr sz="3400" b="1">
                <a:solidFill>
                  <a:srgbClr val="34D399"/>
                </a:solidFill>
                <a:latin typeface="Calibri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2286000"/>
            <a:ext cx="2743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89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web tests: contract reads and the</a:t>
            </a:r>
          </a:p>
          <a:p>
            <a:pPr>
              <a:spcAft>
                <a:spcPts val="489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what-if encoder against cast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146304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89"/>
              </a:spcAft>
            </a:pPr>
            <a:r>
              <a:rPr sz="3400" b="1">
                <a:solidFill>
                  <a:srgbClr val="F0B90B"/>
                </a:solidFill>
                <a:latin typeface="Calibri"/>
              </a:rPr>
              <a:t>exact match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0" y="2286000"/>
            <a:ext cx="2743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89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source verified on Sourcify</a:t>
            </a:r>
          </a:p>
          <a:p>
            <a:pPr>
              <a:spcAft>
                <a:spcPts val="489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6 receipts, all status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02336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69"/>
              </a:spcAft>
            </a:pPr>
            <a:r>
              <a:rPr sz="2200" b="1">
                <a:solidFill>
                  <a:srgbClr val="FBBF24"/>
                </a:solidFill>
                <a:latin typeface="Calibri"/>
              </a:rPr>
              <a:t>Limits, said plainly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572000"/>
            <a:ext cx="108813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6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The contract never executes orders · the runner fails open if the RPC is down · the agent can </a:t>
            </a:r>
            <a:r>
              <a:rPr sz="1600" b="0">
                <a:solidFill>
                  <a:srgbClr val="FFFFFF"/>
                </a:solidFill>
                <a:latin typeface="Consolas"/>
              </a:rPr>
              <a:t>resume()</a:t>
            </a:r>
            <a:r>
              <a:rPr sz="1600" b="0">
                <a:solidFill>
                  <a:srgbClr val="FFFFFF"/>
                </a:solidFill>
                <a:latin typeface="Calibri"/>
              </a:rPr>
              <a:t> at once</a:t>
            </a:r>
          </a:p>
          <a:p>
            <a:pPr>
              <a:spcAft>
                <a:spcPts val="56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The drawdown is reported by the agent · no live bot tick and no profit claimed; backtests are research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3600" b="1">
                <a:solidFill>
                  <a:srgbClr val="FFFFFF"/>
                </a:solidFill>
                <a:latin typeface="Calibri"/>
              </a:rPr>
              <a:t>What Dex added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39"/>
              </a:spcAft>
            </a:pPr>
            <a:r>
              <a:rPr sz="2400" b="1">
                <a:solidFill>
                  <a:srgbClr val="AAAAAB"/>
                </a:solidFill>
                <a:latin typeface="Calibri"/>
              </a:rPr>
              <a:t>Upstream DRIFT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03120"/>
            <a:ext cx="50292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Quant engine, cockpit and MacroGuard.sol</a:t>
            </a:r>
          </a:p>
          <a:p>
            <a:pPr>
              <a:spcAft>
                <a:spcPts val="63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7 contract tests</a:t>
            </a:r>
          </a:p>
          <a:p>
            <a:pPr>
              <a:spcAft>
                <a:spcPts val="63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Built for a Mantle hackathon track (June 2026)</a:t>
            </a:r>
          </a:p>
          <a:p>
            <a:pPr>
              <a:spcAft>
                <a:spcPts val="63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Migrated to BNB Chain in bcc-ukdw/seed-bnb</a:t>
            </a:r>
          </a:p>
          <a:p>
            <a:pPr>
              <a:spcAft>
                <a:spcPts val="63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(commit </a:t>
            </a:r>
            <a:r>
              <a:rPr sz="1800" b="0">
                <a:solidFill>
                  <a:srgbClr val="FFFFFF"/>
                </a:solidFill>
                <a:latin typeface="Consolas"/>
              </a:rPr>
              <a:t>52671ce</a:t>
            </a:r>
            <a:r>
              <a:rPr sz="1800" b="0">
                <a:solidFill>
                  <a:srgbClr val="FFFFFF"/>
                </a:solidFill>
                <a:latin typeface="Calibri"/>
              </a:rPr>
              <a:t>, 29 Sep 2026)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0" y="1371600"/>
            <a:ext cx="5486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39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Dex's work in this fork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0" y="210312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94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Own BSC Testnet deploy + 5-tx smoke test (status 1)</a:t>
            </a:r>
          </a:p>
          <a:p>
            <a:pPr>
              <a:spcAft>
                <a:spcPts val="594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Source verified on Sourcify (exact match)</a:t>
            </a:r>
          </a:p>
          <a:p>
            <a:pPr>
              <a:spcAft>
                <a:spcPts val="594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Public panel: live browser reads, receipts, limits</a:t>
            </a:r>
          </a:p>
          <a:p>
            <a:pPr>
              <a:spcAft>
                <a:spcPts val="594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Ask the contract: </a:t>
            </a:r>
            <a:r>
              <a:rPr sz="1700" b="0">
                <a:solidFill>
                  <a:srgbClr val="FFFFFF"/>
                </a:solidFill>
                <a:latin typeface="Consolas"/>
              </a:rPr>
              <a:t>eth_call</a:t>
            </a:r>
            <a:r>
              <a:rPr sz="1700" b="0">
                <a:solidFill>
                  <a:srgbClr val="FFFFFF"/>
                </a:solidFill>
                <a:latin typeface="Calibri"/>
              </a:rPr>
              <a:t> what-if, nothing signed</a:t>
            </a:r>
          </a:p>
          <a:p>
            <a:pPr>
              <a:spcAft>
                <a:spcPts val="594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+23 contract tests, 48 engine tests, 15 web tests, CI</a:t>
            </a:r>
          </a:p>
          <a:p>
            <a:pPr>
              <a:spcAft>
                <a:spcPts val="594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Labelled Binance data fallback · threat model</a:t>
            </a:r>
          </a:p>
          <a:p>
            <a:pPr>
              <a:spcAft>
                <a:spcPts val="594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Landing, visual system, PRD, this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85216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60"/>
              </a:spcAft>
            </a:pPr>
            <a:r>
              <a:rPr sz="1600" b="0">
                <a:solidFill>
                  <a:srgbClr val="AAAAAB"/>
                </a:solidFill>
                <a:latin typeface="Calibri"/>
              </a:rPr>
              <a:t>Code: </a:t>
            </a:r>
            <a:r>
              <a:rPr sz="1600" b="0">
                <a:solidFill>
                  <a:srgbClr val="AAAAAB"/>
                </a:solidFill>
                <a:latin typeface="Consolas"/>
              </a:rPr>
              <a:t>github.com/Stylenecy/seed-bnb/tree/dex/drift/drift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3600" b="1">
                <a:solidFill>
                  <a:srgbClr val="FFFFFF"/>
                </a:solidFill>
                <a:latin typeface="Calibri"/>
              </a:rPr>
              <a:t>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25"/>
              </a:spcAft>
            </a:pPr>
            <a:r>
              <a:rPr sz="1500" b="1">
                <a:solidFill>
                  <a:srgbClr val="FBBF24"/>
                </a:solidFill>
                <a:latin typeface="Calibri"/>
              </a:rPr>
              <a:t>Not built yet; listed in order of trust gained per 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5486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Resume through a multisig or timelock</a:t>
            </a:r>
          </a:p>
          <a:p>
            <a:pPr>
              <a:spcAft>
                <a:spcPts val="63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Fail-closed mode for the runner</a:t>
            </a:r>
          </a:p>
          <a:p>
            <a:pPr>
              <a:spcAft>
                <a:spcPts val="63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Signed regime verdicts (EIP-712) with an input hash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737360"/>
            <a:ext cx="5486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Attested equity, so the drawdown is not self-reported</a:t>
            </a:r>
          </a:p>
          <a:p>
            <a:pPr>
              <a:spcAft>
                <a:spcPts val="63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Record the raw signal plus a veto flag</a:t>
            </a:r>
          </a:p>
          <a:p>
            <a:pPr>
              <a:spcAft>
                <a:spcPts val="63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Agent identity (ERC-8004), then mainnet after an audit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93192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39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Check it yourself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599432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55"/>
              </a:spcAft>
            </a:pPr>
            <a:r>
              <a:rPr sz="1300" b="0">
                <a:solidFill>
                  <a:srgbClr val="AAAAAB"/>
                </a:solidFill>
                <a:latin typeface="Calibri"/>
              </a:rPr>
              <a:t>Live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4572000"/>
            <a:ext cx="9418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FFFFFF"/>
                </a:solidFill>
                <a:latin typeface="Consolas"/>
              </a:rPr>
              <a:t>https://drift-macroguard.vercel.app/macroguard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056632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55"/>
              </a:spcAft>
            </a:pPr>
            <a:r>
              <a:rPr sz="1300" b="0">
                <a:solidFill>
                  <a:srgbClr val="AAAAAB"/>
                </a:solidFill>
                <a:latin typeface="Calibri"/>
              </a:rPr>
              <a:t>Code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5029200"/>
            <a:ext cx="9418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FFFFFF"/>
                </a:solidFill>
                <a:latin typeface="Consolas"/>
              </a:rPr>
              <a:t>https://github.com/Stylenecy/seed-bnb/tree/dex/drift/drift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513832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55"/>
              </a:spcAft>
            </a:pPr>
            <a:r>
              <a:rPr sz="1300" b="0">
                <a:solidFill>
                  <a:srgbClr val="AAAAAB"/>
                </a:solidFill>
                <a:latin typeface="Calibri"/>
              </a:rPr>
              <a:t>Contract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0" y="5486400"/>
            <a:ext cx="9418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F0B90B"/>
                </a:solidFill>
                <a:latin typeface="Consolas"/>
                <a:hlinkClick r:id="rId3"/>
              </a:rPr>
              <a:t>https://testnet.bscscan.com/address/0x8b09ebB85Be8Ed55Bb5132d29eABc567c42aa83D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971032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55"/>
              </a:spcAft>
            </a:pPr>
            <a:r>
              <a:rPr sz="1300" b="0">
                <a:solidFill>
                  <a:srgbClr val="AAAAAB"/>
                </a:solidFill>
                <a:latin typeface="Calibri"/>
              </a:rPr>
              <a:t>Source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86000" y="5943600"/>
            <a:ext cx="9418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F0B90B"/>
                </a:solidFill>
                <a:latin typeface="Consolas"/>
                <a:hlinkClick r:id="rId4"/>
              </a:rPr>
              <a:t>https://repo.sourcify.dev/97/0x8b09ebB85Be8Ed55Bb5132d29eABc567c42aa83D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F0B90B"/>
      </a:hlink>
      <a:folHlink>
        <a:srgbClr val="F0B90B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F0B90B"/>
      </a:hlink>
      <a:folHlink>
        <a:srgbClr val="F0B90B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PresentationFormat>Widescreen</PresentationFormat>
  <Slides>10</Slides>
  <Notes>10</Notes>
  <HiddenSlides>0</HiddenSlides>
  <ScaleCrop>false</ScaleCrop>
  <LinksUpToDate>false</LinksUpToDate>
  <SharedDoc>false</SharedDoc>
  <HyperlinksChanged>false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DRIFT — a trading bot whose risk rules you can verify</dc:title>
  <dc:subject>Indonesia Web3 Hackathon 2026 · BNB Chain</dc:subject>
  <dc:creator>Dex Bennett</dc:creator>
  <cp:keywords/>
  <dc:description>DRIFT pitch deck: public risk gate on BNB Chain</dc:description>
  <cp:lastModifiedBy>Dex Bennett</cp:lastModifiedBy>
  <cp:revision>4</cp:revision>
  <dcterms:created xsi:type="dcterms:W3CDTF">2026-10-03T09:44:15Z</dcterms:created>
  <dcterms:modified xsi:type="dcterms:W3CDTF">2026-10-03T09:44:15Z</dcterms:modified>
  <cp:category/>
</cp:coreProperties>
</file>